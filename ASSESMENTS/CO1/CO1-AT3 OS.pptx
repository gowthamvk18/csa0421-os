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5600700"/>
            <a:ext cx="10668000" cy="647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62000" y="4468117"/>
            <a:ext cx="609600" cy="381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62000" y="5591175"/>
            <a:ext cx="106680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62000" y="2285107"/>
            <a:ext cx="9701212" cy="11541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sz="3900" b="1" i="0" u="none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Comparative Study of Popular Operating Systems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3614737"/>
            <a:ext cx="9239250" cy="586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0" i="0" u="none" dirty="0">
                <a:solidFill>
                  <a:srgbClr val="94A3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Architectural Paradigms, Resource Scheduling, and Real-World Suitability: Windows, Linux, macOS, and Android</a:t>
            </a:r>
          </a:p>
        </p:txBody>
      </p:sp>
      <p:pic>
        <p:nvPicPr>
          <p:cNvPr id="19" name="Google Shape;51;p1" descr="The image features the logo of SIMATS Technical Sciences, a Technical Engineering course, with a background of a blue and green gradient and a depiction of a book or diploma, indicating a technical achievement or certification.&#10;&#10;AI-generated content may be incorrect.">
            <a:extLst>
              <a:ext uri="{FF2B5EF4-FFF2-40B4-BE49-F238E27FC236}">
                <a16:creationId xmlns:a16="http://schemas.microsoft.com/office/drawing/2014/main" id="{7BC6A34C-A905-D914-71AD-76589C82C8CD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950633" y="527533"/>
            <a:ext cx="5600700" cy="876549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6E1B8CB3-8DE5-F112-0B3C-BCB4E7B05E2A}"/>
              </a:ext>
            </a:extLst>
          </p:cNvPr>
          <p:cNvSpPr txBox="1"/>
          <p:nvPr/>
        </p:nvSpPr>
        <p:spPr>
          <a:xfrm>
            <a:off x="1160206" y="4990318"/>
            <a:ext cx="19517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Gowtham M </a:t>
            </a:r>
          </a:p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192373060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2149673"/>
            <a:ext cx="5825430" cy="107632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09600" y="3397448"/>
            <a:ext cx="5825430" cy="107632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09600" y="4645223"/>
            <a:ext cx="5825430" cy="107632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09600" y="2149673"/>
            <a:ext cx="38100" cy="107632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09600" y="3397448"/>
            <a:ext cx="38100" cy="10763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09600" y="4645223"/>
            <a:ext cx="38100" cy="1076325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6030" y="1935360"/>
            <a:ext cx="4766369" cy="400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6029" y="2143775"/>
            <a:ext cx="4766369" cy="4000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1398240"/>
            <a:ext cx="5222584" cy="35105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Role of Modern Operating Systems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300" y="2340173"/>
            <a:ext cx="2568395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 Virtualization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6300" y="2635448"/>
            <a:ext cx="542538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Transforms complex physical components into standardized, clean programmatic interfaces.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6300" y="3587948"/>
            <a:ext cx="2138471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Fair Resource Arbitration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6300" y="3883223"/>
            <a:ext cx="542538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Schedules CPU cycles, dynamically manages virtual memory, and mitigates starvation.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6300" y="4835723"/>
            <a:ext cx="2232727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Protection &amp; Ring Security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6300" y="5130998"/>
            <a:ext cx="542538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Enforces strict privilege boundaries between unprivileged user code and kernel space.</a:t>
            </a:r>
          </a:p>
        </p:txBody>
      </p:sp>
      <p:pic>
        <p:nvPicPr>
          <p:cNvPr id="20" name="Picture 2" descr="SIMATS is a company that specializes in engineering and design solutions.&#10;&#10;AI-generated content may be incorrect.">
            <a:extLst>
              <a:ext uri="{FF2B5EF4-FFF2-40B4-BE49-F238E27FC236}">
                <a16:creationId xmlns:a16="http://schemas.microsoft.com/office/drawing/2014/main" id="{517E0CC4-8CEB-1B4A-2468-FEF212E66C5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7818" b="11266"/>
          <a:stretch>
            <a:fillRect/>
          </a:stretch>
        </p:blipFill>
        <p:spPr bwMode="auto">
          <a:xfrm>
            <a:off x="592666" y="427123"/>
            <a:ext cx="698500" cy="659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" descr="SIMATS is a company that specializes in engineering and design solutions.&#10;&#10;AI-generated content may be incorrect.">
            <a:extLst>
              <a:ext uri="{FF2B5EF4-FFF2-40B4-BE49-F238E27FC236}">
                <a16:creationId xmlns:a16="http://schemas.microsoft.com/office/drawing/2014/main" id="{4ED3227D-BAF6-473C-4669-BDA4A19B536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591" r="33610"/>
          <a:stretch>
            <a:fillRect/>
          </a:stretch>
        </p:blipFill>
        <p:spPr bwMode="auto">
          <a:xfrm>
            <a:off x="10900833" y="337122"/>
            <a:ext cx="905933" cy="74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651819"/>
            <a:ext cx="3505200" cy="2567582"/>
          </a:xfrm>
          <a:prstGeom prst="roundRect">
            <a:avLst>
              <a:gd name="adj" fmla="val 445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4343400" y="2651819"/>
            <a:ext cx="3505200" cy="2567582"/>
          </a:xfrm>
          <a:prstGeom prst="roundRect">
            <a:avLst>
              <a:gd name="adj" fmla="val 445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8115300" y="2695352"/>
            <a:ext cx="3505200" cy="2781895"/>
          </a:xfrm>
          <a:prstGeom prst="roundRect">
            <a:avLst>
              <a:gd name="adj" fmla="val 410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09600" y="2651819"/>
            <a:ext cx="35052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343400" y="2651819"/>
            <a:ext cx="35052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115300" y="2632769"/>
            <a:ext cx="3505200" cy="38100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994719"/>
            <a:ext cx="238125" cy="2667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994719"/>
            <a:ext cx="238125" cy="2667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5800" y="2887563"/>
            <a:ext cx="200025" cy="2667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1380753"/>
            <a:ext cx="5976636" cy="35105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Architectural Taxonomy &amp; Execution Models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3394769"/>
            <a:ext cx="1083630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284C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Linux &amp; Android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3670994"/>
            <a:ext cx="3143250" cy="417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primary OS services and device drivers execute directly within single kernel address space.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394769"/>
            <a:ext cx="1215076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Microsoft Windows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670994"/>
            <a:ext cx="3143250" cy="417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Combines microkernel modular abstraction with monolithic execution speed for graphics and I/O.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5800" y="3287613"/>
            <a:ext cx="854401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Apple macOS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5800" y="3563838"/>
            <a:ext cx="3143250" cy="6355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Composite foundation merging Mach 3.0 microkernel primitives with complete FreeBSD components.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90625" y="2994719"/>
            <a:ext cx="989053" cy="2539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Monolithic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3450" y="4483596"/>
            <a:ext cx="51296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9650" y="4485977"/>
            <a:ext cx="2297104" cy="197362"/>
          </a:xfrm>
          <a:prstGeom prst="rect">
            <a:avLst/>
          </a:prstGeom>
          <a:noFill/>
        </p:spPr>
        <p:txBody>
          <a:bodyPr wrap="none" lIns="7620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Zero IPC overhead for internal drivers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3450" y="4697908"/>
            <a:ext cx="51296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9650" y="4700289"/>
            <a:ext cx="2604880" cy="197362"/>
          </a:xfrm>
          <a:prstGeom prst="rect">
            <a:avLst/>
          </a:prstGeom>
          <a:noFill/>
        </p:spPr>
        <p:txBody>
          <a:bodyPr wrap="none" lIns="7620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Dynamic Loadable Kernel Modules (LKM)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24425" y="2994719"/>
            <a:ext cx="1005083" cy="2539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Hybrid 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7250" y="4483596"/>
            <a:ext cx="51296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43450" y="4485977"/>
            <a:ext cx="2452594" cy="197362"/>
          </a:xfrm>
          <a:prstGeom prst="rect">
            <a:avLst/>
          </a:prstGeom>
          <a:noFill/>
        </p:spPr>
        <p:txBody>
          <a:bodyPr wrap="none" lIns="7620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 Abstraction Layer (HAL) base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7250" y="4697908"/>
            <a:ext cx="51296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43450" y="4756668"/>
            <a:ext cx="2380460" cy="197362"/>
          </a:xfrm>
          <a:prstGeom prst="rect">
            <a:avLst/>
          </a:prstGeom>
          <a:noFill/>
        </p:spPr>
        <p:txBody>
          <a:bodyPr wrap="none" lIns="7620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Subsystem servers isolate user runtimes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20125" y="2887563"/>
            <a:ext cx="1168590" cy="2539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XNU Hybrid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01050" y="4376439"/>
            <a:ext cx="51296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77250" y="4378821"/>
            <a:ext cx="2971800" cy="197362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 message passing and thread control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01050" y="4805064"/>
            <a:ext cx="51296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77250" y="4807446"/>
            <a:ext cx="2364430" cy="197362"/>
          </a:xfrm>
          <a:prstGeom prst="rect">
            <a:avLst/>
          </a:prstGeom>
          <a:noFill/>
        </p:spPr>
        <p:txBody>
          <a:bodyPr wrap="none" lIns="7620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POSIX compliance via FreeBSD layers</a:t>
            </a:r>
          </a:p>
        </p:txBody>
      </p:sp>
      <p:pic>
        <p:nvPicPr>
          <p:cNvPr id="36" name="Picture 2" descr="SIMATS is a company that specializes in engineering and design solutions.&#10;&#10;AI-generated content may be incorrect.">
            <a:extLst>
              <a:ext uri="{FF2B5EF4-FFF2-40B4-BE49-F238E27FC236}">
                <a16:creationId xmlns:a16="http://schemas.microsoft.com/office/drawing/2014/main" id="{D0734875-6441-3C9B-84EE-5A5662A5332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7818" b="11266"/>
          <a:stretch>
            <a:fillRect/>
          </a:stretch>
        </p:blipFill>
        <p:spPr bwMode="auto">
          <a:xfrm>
            <a:off x="592666" y="407459"/>
            <a:ext cx="698500" cy="659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2" descr="SIMATS is a company that specializes in engineering and design solutions.&#10;&#10;AI-generated content may be incorrect.">
            <a:extLst>
              <a:ext uri="{FF2B5EF4-FFF2-40B4-BE49-F238E27FC236}">
                <a16:creationId xmlns:a16="http://schemas.microsoft.com/office/drawing/2014/main" id="{2FB63349-5DDF-7F17-A4DF-0293F48A7B9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591" r="33610"/>
          <a:stretch>
            <a:fillRect/>
          </a:stretch>
        </p:blipFill>
        <p:spPr bwMode="auto">
          <a:xfrm>
            <a:off x="10900833" y="327290"/>
            <a:ext cx="905933" cy="74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497335"/>
            <a:ext cx="5372100" cy="1343025"/>
          </a:xfrm>
          <a:prstGeom prst="roundRect">
            <a:avLst>
              <a:gd name="adj" fmla="val 709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210300" y="2497335"/>
            <a:ext cx="5372100" cy="1343025"/>
          </a:xfrm>
          <a:prstGeom prst="roundRect">
            <a:avLst>
              <a:gd name="adj" fmla="val 709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09600" y="4030860"/>
            <a:ext cx="5372100" cy="1343025"/>
          </a:xfrm>
          <a:prstGeom prst="roundRect">
            <a:avLst>
              <a:gd name="adj" fmla="val 709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210300" y="4030860"/>
            <a:ext cx="5372100" cy="1343025"/>
          </a:xfrm>
          <a:prstGeom prst="roundRect">
            <a:avLst>
              <a:gd name="adj" fmla="val 709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09600" y="2497335"/>
            <a:ext cx="38100" cy="13430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10300" y="2497335"/>
            <a:ext cx="38100" cy="134302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09600" y="4030860"/>
            <a:ext cx="38100" cy="13430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210300" y="4030860"/>
            <a:ext cx="38100" cy="1343025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27587" y="1542083"/>
            <a:ext cx="5437322" cy="35105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 &amp; Thread Scheduling Algorithms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300" y="2725935"/>
            <a:ext cx="1630254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Linux CFS &amp; EEVDF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6300" y="3002160"/>
            <a:ext cx="4972050" cy="1731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Completely Fair Scheduler utilizes red-black trees based on virtual runtime metrics.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6300" y="3440310"/>
            <a:ext cx="2313134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O(log N) latency • Deterministic fairness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7000" y="2725935"/>
            <a:ext cx="2205860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Windows Priority Preemptive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7000" y="3002160"/>
            <a:ext cx="4972050" cy="3462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Multi-level Feedback Queue across 32 distinct priority tiers with dynamic foreground boosting.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7000" y="3440310"/>
            <a:ext cx="2216954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 responsiveness • Starvation decay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6300" y="4259460"/>
            <a:ext cx="2205860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macOS QoS &amp; Mach Threads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6300" y="4535685"/>
            <a:ext cx="4972050" cy="3462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Grand Central Dispatch binds thread priority dynamically to declared Quality-of-Service tiers.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6300" y="4973835"/>
            <a:ext cx="2550378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Asymmetric core targeting • Energy priority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7000" y="4259460"/>
            <a:ext cx="2598660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Android Cgroups &amp; Energy-Aware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7000" y="4535685"/>
            <a:ext cx="4972050" cy="3462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 (Energy Aware Scheduling) allocates interactive tasks to efficient or performance CPU clusters.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7000" y="4973835"/>
            <a:ext cx="2800447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Heterogeneous big.LITTLE • Thermal throttling</a:t>
            </a:r>
          </a:p>
        </p:txBody>
      </p:sp>
      <p:pic>
        <p:nvPicPr>
          <p:cNvPr id="26" name="Picture 2" descr="SIMATS is a company that specializes in engineering and design solutions.&#10;&#10;AI-generated content may be incorrect.">
            <a:extLst>
              <a:ext uri="{FF2B5EF4-FFF2-40B4-BE49-F238E27FC236}">
                <a16:creationId xmlns:a16="http://schemas.microsoft.com/office/drawing/2014/main" id="{CB4B4897-D9D0-B63E-8B7F-6DF70D9B0A1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7818" b="11266"/>
          <a:stretch>
            <a:fillRect/>
          </a:stretch>
        </p:blipFill>
        <p:spPr bwMode="auto">
          <a:xfrm>
            <a:off x="592666" y="407459"/>
            <a:ext cx="698500" cy="659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2" descr="SIMATS is a company that specializes in engineering and design solutions.&#10;&#10;AI-generated content may be incorrect.">
            <a:extLst>
              <a:ext uri="{FF2B5EF4-FFF2-40B4-BE49-F238E27FC236}">
                <a16:creationId xmlns:a16="http://schemas.microsoft.com/office/drawing/2014/main" id="{F68F5629-097B-C9FC-60C8-F467870244D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591" r="33610"/>
          <a:stretch>
            <a:fillRect/>
          </a:stretch>
        </p:blipFill>
        <p:spPr bwMode="auto">
          <a:xfrm>
            <a:off x="10900833" y="327290"/>
            <a:ext cx="905933" cy="74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050" y="3354585"/>
            <a:ext cx="123825" cy="14287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050" y="3849885"/>
            <a:ext cx="123825" cy="1428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050" y="4345185"/>
            <a:ext cx="104775" cy="1428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050" y="4840485"/>
            <a:ext cx="161925" cy="142875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0129014"/>
              </p:ext>
            </p:extLst>
          </p:nvPr>
        </p:nvGraphicFramePr>
        <p:xfrm>
          <a:off x="609600" y="2725935"/>
          <a:ext cx="10972798" cy="2419350"/>
        </p:xfrm>
        <a:graphic>
          <a:graphicData uri="http://schemas.openxmlformats.org/drawingml/2006/table">
            <a:tbl>
              <a:tblPr/>
              <a:tblGrid>
                <a:gridCol w="17436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589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365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336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387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Operating System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Virtual Memory Strategy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Memory Pressure Handler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Primary File System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387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2563EB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Windows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 dirty="0">
                          <a:solidFill>
                            <a:srgbClr val="0F172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Demand paging with Working Set trimming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0F172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pagefile.sys backing + RAM compression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NTFS / ReFS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387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284C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Linux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0F172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Buddy allocation system + SLAB / SLUB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0F172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Kernel Out-Of-Memory (OOM) Killer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ext4 / Btrfs / XFS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387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macOS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0F172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Unified memory architecture with Mach VM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0F172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In-line 4:1 WKdm memory compression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APFS (Apple File System)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387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16A34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Android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 dirty="0">
                          <a:solidFill>
                            <a:srgbClr val="0F172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Zero secondary disk swap (flash protection)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0F172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 Memory Killer Daemon (LMKD) + zRAM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 dirty="0">
                          <a:solidFill>
                            <a:srgbClr val="0F172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EROFS / F2FS / ext4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09665" y="1511958"/>
            <a:ext cx="6362767" cy="35105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Virtual Memory, Paging &amp; Storage Frameworks</a:t>
            </a:r>
          </a:p>
        </p:txBody>
      </p:sp>
      <p:pic>
        <p:nvPicPr>
          <p:cNvPr id="11" name="Picture 2" descr="SIMATS is a company that specializes in engineering and design solutions.&#10;&#10;AI-generated content may be incorrect.">
            <a:extLst>
              <a:ext uri="{FF2B5EF4-FFF2-40B4-BE49-F238E27FC236}">
                <a16:creationId xmlns:a16="http://schemas.microsoft.com/office/drawing/2014/main" id="{645BBAD9-6BB4-8F47-E83A-9FE72597193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7818" b="11266"/>
          <a:stretch>
            <a:fillRect/>
          </a:stretch>
        </p:blipFill>
        <p:spPr bwMode="auto">
          <a:xfrm>
            <a:off x="592666" y="407459"/>
            <a:ext cx="698500" cy="659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SIMATS is a company that specializes in engineering and design solutions.&#10;&#10;AI-generated content may be incorrect.">
            <a:extLst>
              <a:ext uri="{FF2B5EF4-FFF2-40B4-BE49-F238E27FC236}">
                <a16:creationId xmlns:a16="http://schemas.microsoft.com/office/drawing/2014/main" id="{9DABD6E0-895C-5F30-D65C-46CF4EF2976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591" r="33610"/>
          <a:stretch>
            <a:fillRect/>
          </a:stretch>
        </p:blipFill>
        <p:spPr bwMode="auto">
          <a:xfrm>
            <a:off x="10900833" y="327290"/>
            <a:ext cx="905933" cy="74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06898"/>
            <a:ext cx="2600325" cy="2257425"/>
          </a:xfrm>
          <a:prstGeom prst="roundRect">
            <a:avLst>
              <a:gd name="adj" fmla="val 421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3400425" y="2910482"/>
            <a:ext cx="2600325" cy="2050256"/>
          </a:xfrm>
          <a:prstGeom prst="roundRect">
            <a:avLst>
              <a:gd name="adj" fmla="val 464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191250" y="2806898"/>
            <a:ext cx="2600325" cy="2257425"/>
          </a:xfrm>
          <a:prstGeom prst="roundRect">
            <a:avLst>
              <a:gd name="adj" fmla="val 421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982075" y="2806898"/>
            <a:ext cx="2600325" cy="2257425"/>
          </a:xfrm>
          <a:prstGeom prst="roundRect">
            <a:avLst>
              <a:gd name="adj" fmla="val 421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09600" y="2806898"/>
            <a:ext cx="2600325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400425" y="2910482"/>
            <a:ext cx="2600325" cy="28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191250" y="2806898"/>
            <a:ext cx="2600325" cy="2857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982075" y="2806898"/>
            <a:ext cx="2600325" cy="28575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3083123"/>
            <a:ext cx="228600" cy="2286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0925" y="3186707"/>
            <a:ext cx="200025" cy="2286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750" y="3083123"/>
            <a:ext cx="228600" cy="2286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2575" y="3083123"/>
            <a:ext cx="171450" cy="2286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1449" y="1606585"/>
            <a:ext cx="5740354" cy="35105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Security Paradigms &amp; Privilege Boundaries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" y="3426023"/>
            <a:ext cx="689356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Windows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" y="3721298"/>
            <a:ext cx="1364156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VBS &amp; Hardware TPM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" y="3987998"/>
            <a:ext cx="2314575" cy="5981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Virtualization-Based Security runs isolated Hyper-V micro-instances safeguarding credentials.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90925" y="3529607"/>
            <a:ext cx="442429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Linux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90925" y="3824882"/>
            <a:ext cx="1205458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 &amp; Namespaces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90925" y="4091582"/>
            <a:ext cx="2314575" cy="621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SELinux / AppArmor Mandatory Access Control combined with cgroups for container isolation.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1750" y="3426023"/>
            <a:ext cx="538609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1750" y="3721298"/>
            <a:ext cx="1266372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SIP &amp; Secure Enclave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1750" y="3987998"/>
            <a:ext cx="2314575" cy="5981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Integrity Protection restricts root modifications while hardware Enclave stores keys.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72575" y="3426023"/>
            <a:ext cx="622030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Android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72575" y="3721298"/>
            <a:ext cx="965008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6A3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UID Sandboxing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72575" y="3987998"/>
            <a:ext cx="2314575" cy="5981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Assigns discrete Linux User IDs per application, strictly sandboxing files, memory, and sensors.</a:t>
            </a:r>
          </a:p>
        </p:txBody>
      </p:sp>
      <p:pic>
        <p:nvPicPr>
          <p:cNvPr id="30" name="Picture 2" descr="SIMATS is a company that specializes in engineering and design solutions.&#10;&#10;AI-generated content may be incorrect.">
            <a:extLst>
              <a:ext uri="{FF2B5EF4-FFF2-40B4-BE49-F238E27FC236}">
                <a16:creationId xmlns:a16="http://schemas.microsoft.com/office/drawing/2014/main" id="{E3844A6F-218F-9B00-196A-F6FED9674E0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7818" b="11266"/>
          <a:stretch>
            <a:fillRect/>
          </a:stretch>
        </p:blipFill>
        <p:spPr bwMode="auto">
          <a:xfrm>
            <a:off x="592666" y="407459"/>
            <a:ext cx="698500" cy="659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2" descr="SIMATS is a company that specializes in engineering and design solutions.&#10;&#10;AI-generated content may be incorrect.">
            <a:extLst>
              <a:ext uri="{FF2B5EF4-FFF2-40B4-BE49-F238E27FC236}">
                <a16:creationId xmlns:a16="http://schemas.microsoft.com/office/drawing/2014/main" id="{934E46DC-1244-68E4-A616-E5168BDF9B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591" r="33610"/>
          <a:stretch>
            <a:fillRect/>
          </a:stretch>
        </p:blipFill>
        <p:spPr bwMode="auto">
          <a:xfrm>
            <a:off x="10900833" y="327290"/>
            <a:ext cx="905933" cy="74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5256144"/>
              </p:ext>
            </p:extLst>
          </p:nvPr>
        </p:nvGraphicFramePr>
        <p:xfrm>
          <a:off x="609600" y="2511623"/>
          <a:ext cx="10972798" cy="2847975"/>
        </p:xfrm>
        <a:graphic>
          <a:graphicData uri="http://schemas.openxmlformats.org/drawingml/2006/table">
            <a:tbl>
              <a:tblPr/>
              <a:tblGrid>
                <a:gridCol w="17834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62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77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150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7440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6853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Attribute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Windows (NT)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Linux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macOS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Android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853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F172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Kernel Type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0F172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Hybrid NT Kernel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0F172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Monolithic (Modular)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0F172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Hybrid (XNU: Mach + BSD)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0F172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Modified Monolithic Linux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853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F172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License Model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 dirty="0">
                          <a:solidFill>
                            <a:srgbClr val="0F172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Proprietary Commercial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0F172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FOSS (GPL v2)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0F172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Proprietary / OpenDarwin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0F172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Apache 2.0 / GPL Kernel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853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F172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Hardware Support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0F172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Universal OEM Ecosystem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0F172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Vast (x86, ARM, RISC-V)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0F172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Apple Silicon Exclusive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0F172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ARM / SoC Ecosystem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853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F172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Driver Model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0F172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WDF (KMDF / UMDF)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0F172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In-tree Kernel Drivers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0F172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DriverKit (User Space)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0F172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HIDL / AIDL HAL Interfaces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853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F172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Package System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0F172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MSI, EXE, winget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0F172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dpkg, RPM, Flatpak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0F172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 Bundles (.app), brew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0F172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APK / AAB Packages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857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F172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Target Domain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0F172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Enterprise &amp; Gaming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0F172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Servers, Cloud &amp; IoT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0F172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Creative &amp; Engineering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 dirty="0">
                          <a:solidFill>
                            <a:srgbClr val="0F172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Mobile &amp; Embedded Edge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21110" y="1387301"/>
            <a:ext cx="5133328" cy="35105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Technical Metrics Across Systems</a:t>
            </a:r>
          </a:p>
        </p:txBody>
      </p:sp>
      <p:pic>
        <p:nvPicPr>
          <p:cNvPr id="7" name="Picture 2" descr="SIMATS is a company that specializes in engineering and design solutions.&#10;&#10;AI-generated content may be incorrect.">
            <a:extLst>
              <a:ext uri="{FF2B5EF4-FFF2-40B4-BE49-F238E27FC236}">
                <a16:creationId xmlns:a16="http://schemas.microsoft.com/office/drawing/2014/main" id="{091589EB-D4BC-AA3B-7A36-26B064B9853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7818" b="11266"/>
          <a:stretch>
            <a:fillRect/>
          </a:stretch>
        </p:blipFill>
        <p:spPr bwMode="auto">
          <a:xfrm>
            <a:off x="592666" y="407459"/>
            <a:ext cx="698500" cy="659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SIMATS is a company that specializes in engineering and design solutions.&#10;&#10;AI-generated content may be incorrect.">
            <a:extLst>
              <a:ext uri="{FF2B5EF4-FFF2-40B4-BE49-F238E27FC236}">
                <a16:creationId xmlns:a16="http://schemas.microsoft.com/office/drawing/2014/main" id="{C30EC6F0-1383-4D51-BD7C-CE86E9BFBB2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591" r="33610"/>
          <a:stretch>
            <a:fillRect/>
          </a:stretch>
        </p:blipFill>
        <p:spPr bwMode="auto">
          <a:xfrm>
            <a:off x="10900833" y="327290"/>
            <a:ext cx="905933" cy="74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34385" y="2321123"/>
            <a:ext cx="5548014" cy="962025"/>
          </a:xfrm>
          <a:prstGeom prst="roundRect">
            <a:avLst>
              <a:gd name="adj" fmla="val 792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034385" y="3454598"/>
            <a:ext cx="5548014" cy="962025"/>
          </a:xfrm>
          <a:prstGeom prst="roundRect">
            <a:avLst>
              <a:gd name="adj" fmla="val 792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034385" y="4588073"/>
            <a:ext cx="5548014" cy="962025"/>
          </a:xfrm>
          <a:prstGeom prst="roundRect">
            <a:avLst>
              <a:gd name="adj" fmla="val 792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034385" y="2321123"/>
            <a:ext cx="38100" cy="96202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034385" y="3454598"/>
            <a:ext cx="38100" cy="9620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034385" y="4588073"/>
            <a:ext cx="38100" cy="962025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935360"/>
            <a:ext cx="5043785" cy="400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485" y="2169250"/>
            <a:ext cx="4454013" cy="35327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27587" y="1238161"/>
            <a:ext cx="5452455" cy="35105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Real-World Deployment &amp; Ecosystem Fit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82035" y="2492573"/>
            <a:ext cx="3593997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Desktop Dominance &amp; Corporate Infrastructure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82035" y="2749748"/>
            <a:ext cx="5186064" cy="3462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Windows maintains &gt;70% desktop share driven by DirectX 12 gaming and Active Directory.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2035" y="3626048"/>
            <a:ext cx="2973635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Cloud, Supercomputing &amp; Data Centers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2035" y="3883223"/>
            <a:ext cx="5186064" cy="3462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Linux powers 100% of top 500 supercomputers and over 90% of global cloud infrastructure.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2035" y="4759523"/>
            <a:ext cx="2366032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Global Edge &amp; Mobile Ubiquity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82035" y="5016698"/>
            <a:ext cx="5186064" cy="1731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Android commands &gt;70% mobile market share across 3+ billion active consumer devices.</a:t>
            </a:r>
          </a:p>
        </p:txBody>
      </p:sp>
      <p:pic>
        <p:nvPicPr>
          <p:cNvPr id="20" name="Picture 2" descr="SIMATS is a company that specializes in engineering and design solutions.&#10;&#10;AI-generated content may be incorrect.">
            <a:extLst>
              <a:ext uri="{FF2B5EF4-FFF2-40B4-BE49-F238E27FC236}">
                <a16:creationId xmlns:a16="http://schemas.microsoft.com/office/drawing/2014/main" id="{F70E7471-F827-15F9-D89F-61C6E822FBC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7818" b="11266"/>
          <a:stretch>
            <a:fillRect/>
          </a:stretch>
        </p:blipFill>
        <p:spPr bwMode="auto">
          <a:xfrm>
            <a:off x="592666" y="407459"/>
            <a:ext cx="698500" cy="659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" descr="SIMATS is a company that specializes in engineering and design solutions.&#10;&#10;AI-generated content may be incorrect.">
            <a:extLst>
              <a:ext uri="{FF2B5EF4-FFF2-40B4-BE49-F238E27FC236}">
                <a16:creationId xmlns:a16="http://schemas.microsoft.com/office/drawing/2014/main" id="{23FB5309-4DF4-FB2B-68A1-8F257F5200B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591" r="33610"/>
          <a:stretch>
            <a:fillRect/>
          </a:stretch>
        </p:blipFill>
        <p:spPr bwMode="auto">
          <a:xfrm>
            <a:off x="10900833" y="327290"/>
            <a:ext cx="905933" cy="74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125860"/>
            <a:ext cx="3505200" cy="3619500"/>
          </a:xfrm>
          <a:prstGeom prst="roundRect">
            <a:avLst>
              <a:gd name="adj" fmla="val 32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4343400" y="2125860"/>
            <a:ext cx="3505200" cy="3619500"/>
          </a:xfrm>
          <a:prstGeom prst="roundRect">
            <a:avLst>
              <a:gd name="adj" fmla="val 32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8077200" y="2125860"/>
            <a:ext cx="3505200" cy="3619500"/>
          </a:xfrm>
          <a:prstGeom prst="roundRect">
            <a:avLst>
              <a:gd name="adj" fmla="val 32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2666" y="1247700"/>
            <a:ext cx="4835106" cy="35105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Summary of Engineering Trade-Offs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2402085"/>
            <a:ext cx="30480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5825" y="5297685"/>
            <a:ext cx="1550104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Throughput vs Modularity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9625" y="2402085"/>
            <a:ext cx="30480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284C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9625" y="5297685"/>
            <a:ext cx="1493999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Context-Dependent Value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3425" y="2402085"/>
            <a:ext cx="30480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16A3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53425" y="5297685"/>
            <a:ext cx="1332096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6A3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Silicon-Kernel Synergy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5825" y="2859285"/>
            <a:ext cx="2277355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Dictates Focus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5825" y="3211710"/>
            <a:ext cx="304800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single kernel design solves all paradigms. Monolithic architectures deliver peak bare-metal throughput, while hybrid kernels excel in modular abstraction.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9625" y="2859285"/>
            <a:ext cx="2236766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Workload-Driven Selection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9625" y="3211710"/>
            <a:ext cx="304800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Deployment depends strictly on constraints: deterministic batch scalability (Linux), backwards compatibility (Windows), or strict sandboxing (Android/macOS).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3425" y="2859285"/>
            <a:ext cx="1743811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 Co-Design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3425" y="3211710"/>
            <a:ext cx="3048000" cy="8513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Modern operating system efficiency increasingly relies on tight hardware integration (e.g., Apple Silicon, ARM big.LITTLE, and hardware hypervisor enclaves).</a:t>
            </a:r>
          </a:p>
        </p:txBody>
      </p:sp>
      <p:pic>
        <p:nvPicPr>
          <p:cNvPr id="21" name="Picture 2" descr="SIMATS is a company that specializes in engineering and design solutions.&#10;&#10;AI-generated content may be incorrect.">
            <a:extLst>
              <a:ext uri="{FF2B5EF4-FFF2-40B4-BE49-F238E27FC236}">
                <a16:creationId xmlns:a16="http://schemas.microsoft.com/office/drawing/2014/main" id="{A123EDEB-7D04-9103-30D5-6FE6E03BE7D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7818" b="11266"/>
          <a:stretch>
            <a:fillRect/>
          </a:stretch>
        </p:blipFill>
        <p:spPr bwMode="auto">
          <a:xfrm>
            <a:off x="592666" y="407459"/>
            <a:ext cx="698500" cy="659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" descr="SIMATS is a company that specializes in engineering and design solutions.&#10;&#10;AI-generated content may be incorrect.">
            <a:extLst>
              <a:ext uri="{FF2B5EF4-FFF2-40B4-BE49-F238E27FC236}">
                <a16:creationId xmlns:a16="http://schemas.microsoft.com/office/drawing/2014/main" id="{5B1EDFB1-1E19-77B6-387D-322CDC72491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591" r="33610"/>
          <a:stretch>
            <a:fillRect/>
          </a:stretch>
        </p:blipFill>
        <p:spPr bwMode="auto">
          <a:xfrm>
            <a:off x="10900833" y="327290"/>
            <a:ext cx="905933" cy="74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5600700"/>
            <a:ext cx="10668000" cy="723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62000" y="144780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62000" y="5600700"/>
            <a:ext cx="106680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62000" y="1781175"/>
            <a:ext cx="9144000" cy="485775"/>
          </a:xfrm>
          <a:prstGeom prst="roundRect">
            <a:avLst>
              <a:gd name="adj" fmla="val 15686"/>
            </a:avLst>
          </a:prstGeom>
          <a:solidFill>
            <a:srgbClr val="13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62000" y="2400300"/>
            <a:ext cx="9144000" cy="485775"/>
          </a:xfrm>
          <a:prstGeom prst="roundRect">
            <a:avLst>
              <a:gd name="adj" fmla="val 15686"/>
            </a:avLst>
          </a:prstGeom>
          <a:solidFill>
            <a:srgbClr val="13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62000" y="3019425"/>
            <a:ext cx="9144000" cy="485775"/>
          </a:xfrm>
          <a:prstGeom prst="roundRect">
            <a:avLst>
              <a:gd name="adj" fmla="val 15686"/>
            </a:avLst>
          </a:prstGeom>
          <a:solidFill>
            <a:srgbClr val="13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62000" y="3638550"/>
            <a:ext cx="9144000" cy="485775"/>
          </a:xfrm>
          <a:prstGeom prst="roundRect">
            <a:avLst>
              <a:gd name="adj" fmla="val 15686"/>
            </a:avLst>
          </a:prstGeom>
          <a:solidFill>
            <a:srgbClr val="13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62000" y="1781175"/>
            <a:ext cx="28575" cy="48577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62000" y="2400300"/>
            <a:ext cx="28575" cy="48577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62000" y="3019425"/>
            <a:ext cx="28575" cy="48577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62000" y="3638550"/>
            <a:ext cx="28575" cy="48577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25090" y="1114425"/>
            <a:ext cx="4594463" cy="4154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 &amp; Source Materials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5838825"/>
            <a:ext cx="2700868" cy="2539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for Your Attention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1075" y="1933575"/>
            <a:ext cx="6825586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[1] Silberschatz, A., Galvin, P. B., &amp; Gagne, G.</a:t>
            </a:r>
            <a:r>
              <a:rPr sz="1125" b="0" i="0" u="none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(2018). </a:t>
            </a:r>
            <a:r>
              <a:rPr sz="1125" b="0" i="1" u="none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 Concepts</a:t>
            </a:r>
            <a:r>
              <a:rPr sz="1125" b="0" i="0" u="none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(10th ed.). John Wiley &amp; Sons.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1075" y="2552700"/>
            <a:ext cx="6222857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[2] Stallings, W.</a:t>
            </a:r>
            <a:r>
              <a:rPr sz="1125" b="0" i="0" u="none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(2018). </a:t>
            </a:r>
            <a:r>
              <a:rPr sz="1125" b="0" i="1" u="none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Systems: Internals and Design Principles</a:t>
            </a:r>
            <a:r>
              <a:rPr sz="1125" b="0" i="0" u="none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(9th ed.). Pearson Education.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1075" y="3171825"/>
            <a:ext cx="6958636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[3] Russinovich, M., Solomon, D. A., &amp; Ionescu, A.</a:t>
            </a:r>
            <a:r>
              <a:rPr sz="1125" b="0" i="0" u="none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(2017). </a:t>
            </a:r>
            <a:r>
              <a:rPr sz="1125" b="0" i="1" u="none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Windows Internals: Part 1 &amp; 2</a:t>
            </a:r>
            <a:r>
              <a:rPr sz="1125" b="0" i="0" u="none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(7th ed.). Microsoft Press.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1075" y="3790950"/>
            <a:ext cx="5142433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[4] Love, R.</a:t>
            </a:r>
            <a:r>
              <a:rPr sz="1125" b="0" i="0" u="none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(2010). </a:t>
            </a:r>
            <a:r>
              <a:rPr sz="1125" b="0" i="1" u="none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Linux Kernel Development</a:t>
            </a:r>
            <a:r>
              <a:rPr sz="1125" b="0" i="0" u="none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(3rd ed.). Addison-Wesley Professional.</a:t>
            </a:r>
          </a:p>
        </p:txBody>
      </p:sp>
      <p:pic>
        <p:nvPicPr>
          <p:cNvPr id="24" name="Picture 2" descr="SIMATS is a company that specializes in engineering and design solutions.&#10;&#10;AI-generated content may be incorrect.">
            <a:extLst>
              <a:ext uri="{FF2B5EF4-FFF2-40B4-BE49-F238E27FC236}">
                <a16:creationId xmlns:a16="http://schemas.microsoft.com/office/drawing/2014/main" id="{C2D79BE0-62E6-A126-583A-57783189C3C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7818" b="11266"/>
          <a:stretch>
            <a:fillRect/>
          </a:stretch>
        </p:blipFill>
        <p:spPr bwMode="auto">
          <a:xfrm>
            <a:off x="592666" y="407459"/>
            <a:ext cx="698500" cy="659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2" descr="SIMATS is a company that specializes in engineering and design solutions.&#10;&#10;AI-generated content may be incorrect.">
            <a:extLst>
              <a:ext uri="{FF2B5EF4-FFF2-40B4-BE49-F238E27FC236}">
                <a16:creationId xmlns:a16="http://schemas.microsoft.com/office/drawing/2014/main" id="{8671B693-AD59-8EC4-C703-446365D6661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591" r="33610"/>
          <a:stretch>
            <a:fillRect/>
          </a:stretch>
        </p:blipFill>
        <p:spPr bwMode="auto">
          <a:xfrm>
            <a:off x="10900833" y="327290"/>
            <a:ext cx="905933" cy="74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1500" y="975270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71500" y="173727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71500" y="173727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118145"/>
            <a:ext cx="857250" cy="4762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889670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862839" y="639895"/>
            <a:ext cx="1918026" cy="35105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66875" y="1156245"/>
            <a:ext cx="5217775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https://www.redhat.com/cms/managed-files/2015/07/user-space-vs-kernel-space-basic-system-calls.png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6875" y="1356270"/>
            <a:ext cx="1560940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www.redhat.com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6875" y="1927770"/>
            <a:ext cx="4246355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https://miro.medium.com/v2/resize:fit:1400/1*NNtdk02dDhbUMqkCyMfmRA.jpeg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6875" y="2127795"/>
            <a:ext cx="1320874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medium.com</a:t>
            </a:r>
          </a:p>
        </p:txBody>
      </p:sp>
      <p:pic>
        <p:nvPicPr>
          <p:cNvPr id="13" name="Picture 2" descr="SIMATS is a company that specializes in engineering and design solutions.&#10;&#10;AI-generated content may be incorrect.">
            <a:extLst>
              <a:ext uri="{FF2B5EF4-FFF2-40B4-BE49-F238E27FC236}">
                <a16:creationId xmlns:a16="http://schemas.microsoft.com/office/drawing/2014/main" id="{CD058825-A4B9-04D5-34CF-C233E3E1D3A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7818" b="11266"/>
          <a:stretch>
            <a:fillRect/>
          </a:stretch>
        </p:blipFill>
        <p:spPr bwMode="auto">
          <a:xfrm>
            <a:off x="592666" y="407459"/>
            <a:ext cx="698500" cy="659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SIMATS is a company that specializes in engineering and design solutions.&#10;&#10;AI-generated content may be incorrect.">
            <a:extLst>
              <a:ext uri="{FF2B5EF4-FFF2-40B4-BE49-F238E27FC236}">
                <a16:creationId xmlns:a16="http://schemas.microsoft.com/office/drawing/2014/main" id="{503A8523-FDF6-F02E-7939-2620B8262A1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591" r="33610"/>
          <a:stretch>
            <a:fillRect/>
          </a:stretch>
        </p:blipFill>
        <p:spPr bwMode="auto">
          <a:xfrm>
            <a:off x="10900833" y="327290"/>
            <a:ext cx="905933" cy="74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917</Words>
  <Application>Microsoft Office PowerPoint</Application>
  <PresentationFormat>Widescreen</PresentationFormat>
  <Paragraphs>147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Times New Roman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Gowtham Mandla</cp:lastModifiedBy>
  <cp:revision>3</cp:revision>
  <dcterms:created xsi:type="dcterms:W3CDTF">2013-01-27T09:14:16Z</dcterms:created>
  <dcterms:modified xsi:type="dcterms:W3CDTF">2026-10-21T08:49:09Z</dcterms:modified>
  <cp:category/>
</cp:coreProperties>
</file>